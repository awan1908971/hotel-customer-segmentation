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70" r:id="rId7"/>
    <p:sldId id="262" r:id="rId8"/>
    <p:sldId id="265" r:id="rId9"/>
  </p:sldIdLst>
  <p:sldSz cx="18288000" cy="10287000"/>
  <p:notesSz cx="6858000" cy="9144000"/>
  <p:embeddedFontLst>
    <p:embeddedFont>
      <p:font typeface="Archivo Black" panose="020B0604020202020204" charset="0"/>
      <p:regular r:id="rId10"/>
    </p:embeddedFont>
    <p:embeddedFont>
      <p:font typeface="Garet" panose="020B0604020202020204" charset="0"/>
      <p:regular r:id="rId11"/>
    </p:embeddedFont>
    <p:embeddedFont>
      <p:font typeface="Garet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214" y="2177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79298" y="8311463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97200" y="565401"/>
            <a:ext cx="797433" cy="555141"/>
          </a:xfrm>
          <a:custGeom>
            <a:avLst/>
            <a:gdLst/>
            <a:ahLst/>
            <a:cxnLst/>
            <a:rect l="l" t="t" r="r" b="b"/>
            <a:pathLst>
              <a:path w="797433" h="707541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953000" y="6394076"/>
            <a:ext cx="1230630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2748"/>
              </a:lnSpc>
              <a:spcBef>
                <a:spcPct val="0"/>
              </a:spcBef>
            </a:pPr>
            <a:r>
              <a:rPr lang="en-US" sz="2400" dirty="0">
                <a:latin typeface="Archivo Black" panose="020B0604020202020204" charset="0"/>
              </a:rPr>
              <a:t>Customer Segmentation Analysis for Hotel Customers</a:t>
            </a:r>
            <a:endParaRPr lang="en-US" sz="2400" spc="-217" dirty="0">
              <a:solidFill>
                <a:srgbClr val="000000"/>
              </a:solidFill>
              <a:latin typeface="Archivo Black" panose="020B060402020202020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00743" y="9098018"/>
            <a:ext cx="3366096" cy="236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0743" y="9404749"/>
            <a:ext cx="3366096" cy="26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1599" dirty="0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Agus Setiawan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52800" y="3950633"/>
            <a:ext cx="13906500" cy="218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8490"/>
              </a:lnSpc>
              <a:spcBef>
                <a:spcPct val="0"/>
              </a:spcBef>
            </a:pPr>
            <a:r>
              <a:rPr lang="en-US" sz="10885" u="none" spc="-859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FINAL PROJECT</a:t>
            </a:r>
          </a:p>
          <a:p>
            <a:pPr marL="0" lvl="0" indent="0" algn="r">
              <a:lnSpc>
                <a:spcPts val="8490"/>
              </a:lnSpc>
              <a:spcBef>
                <a:spcPct val="0"/>
              </a:spcBef>
            </a:pPr>
            <a:r>
              <a:rPr lang="en-US" sz="7200" spc="-859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Analyst</a:t>
            </a:r>
            <a:endParaRPr lang="en-US" sz="7200" u="none" spc="-859" dirty="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1998B721-2F5E-5337-5FD5-CCD5543B2C5E}"/>
              </a:ext>
            </a:extLst>
          </p:cNvPr>
          <p:cNvSpPr txBox="1"/>
          <p:nvPr/>
        </p:nvSpPr>
        <p:spPr>
          <a:xfrm>
            <a:off x="5638800" y="9777384"/>
            <a:ext cx="1230630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r">
              <a:lnSpc>
                <a:spcPts val="2748"/>
              </a:lnSpc>
              <a:spcBef>
                <a:spcPct val="0"/>
              </a:spcBef>
            </a:pPr>
            <a:r>
              <a:rPr lang="en-US" sz="2400" dirty="0"/>
              <a:t>Understanding Customer Profiles • Identifying High-Value Segments • Reducing Churn Risk</a:t>
            </a:r>
            <a:endParaRPr lang="en-US" sz="2400" spc="-217" dirty="0">
              <a:solidFill>
                <a:srgbClr val="000000"/>
              </a:solidFill>
              <a:latin typeface="Archivo Black" panose="020B0604020202020204" charset="0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246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543434" y="0"/>
            <a:ext cx="7201132" cy="10287000"/>
            <a:chOff x="0" y="0"/>
            <a:chExt cx="9601509" cy="1371600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l="983" r="52377"/>
            <a:stretch>
              <a:fillRect/>
            </a:stretch>
          </p:blipFill>
          <p:spPr>
            <a:xfrm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13267896" y="2933700"/>
            <a:ext cx="3828934" cy="3731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hotel industry is becoming increasingly competitive.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Acquiring new customers is more expensive than retaining existing 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company needs to </a:t>
            </a:r>
            <a:r>
              <a:rPr lang="en-US" sz="2000" b="1" dirty="0"/>
              <a:t>retain high-value customers</a:t>
            </a:r>
            <a:r>
              <a:rPr lang="en-US" sz="2000" dirty="0"/>
              <a:t> and </a:t>
            </a:r>
            <a:r>
              <a:rPr lang="en-US" sz="2000" b="1" dirty="0"/>
              <a:t>reduce churn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Currently, all customers are treated the same — no personalized strategies yet.</a:t>
            </a:r>
          </a:p>
          <a:p>
            <a:pPr algn="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01681" y="2960914"/>
            <a:ext cx="3120902" cy="106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/>
              <a:t>Marketing &amp; loyalty programs are still </a:t>
            </a:r>
            <a:r>
              <a:rPr lang="en-US" sz="2000" b="1" dirty="0"/>
              <a:t>generic</a:t>
            </a:r>
            <a:r>
              <a:rPr lang="en-US" sz="2000" dirty="0"/>
              <a:t> and not targeted.</a:t>
            </a: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4134" y="2933701"/>
            <a:ext cx="45071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7601" y="1129691"/>
            <a:ext cx="3120902" cy="106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/>
              <a:t>The company </a:t>
            </a:r>
            <a:r>
              <a:rPr lang="en-US" sz="2000" b="1" dirty="0"/>
              <a:t>does not yet have a clear customer segmentation</a:t>
            </a:r>
            <a:r>
              <a:rPr lang="en-US" sz="2000" dirty="0"/>
              <a:t> based on data.</a:t>
            </a: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129691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81566" y="1341392"/>
            <a:ext cx="7203393" cy="657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5808"/>
              </a:lnSpc>
              <a:spcBef>
                <a:spcPct val="0"/>
              </a:spcBef>
            </a:pPr>
            <a:r>
              <a:rPr lang="en-ID" sz="2800" dirty="0">
                <a:latin typeface="Archivo Black" panose="020B0604020202020204" charset="0"/>
              </a:rPr>
              <a:t>Project Background</a:t>
            </a:r>
            <a:endParaRPr lang="en-US" sz="2800" b="1" spc="-458" dirty="0">
              <a:solidFill>
                <a:srgbClr val="000000"/>
              </a:solidFill>
              <a:latin typeface="Archivo Black" panose="020B060402020202020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44134" y="4803775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01681" y="4813908"/>
            <a:ext cx="3120902" cy="106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/>
              <a:t>High-value customers are churn-prone due to lack of personalized attention.</a:t>
            </a: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4FFF5F00-3F77-F9C9-B66B-26FCD11B3AF0}"/>
              </a:ext>
            </a:extLst>
          </p:cNvPr>
          <p:cNvSpPr txBox="1"/>
          <p:nvPr/>
        </p:nvSpPr>
        <p:spPr>
          <a:xfrm>
            <a:off x="-818957" y="133742"/>
            <a:ext cx="7203393" cy="657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5808"/>
              </a:lnSpc>
              <a:spcBef>
                <a:spcPct val="0"/>
              </a:spcBef>
            </a:pPr>
            <a:r>
              <a:rPr lang="en-ID" sz="2800" dirty="0">
                <a:latin typeface="Archivo Black" panose="020B0604020202020204" charset="0"/>
              </a:rPr>
              <a:t>Problem statement</a:t>
            </a:r>
            <a:endParaRPr lang="en-US" sz="2800" b="1" spc="-458" dirty="0">
              <a:solidFill>
                <a:srgbClr val="000000"/>
              </a:solidFill>
              <a:latin typeface="Archivo Black" panose="020B060402020202020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A48A719C-EE76-8A16-E2FE-755C1F2BB9F1}"/>
              </a:ext>
            </a:extLst>
          </p:cNvPr>
          <p:cNvSpPr txBox="1"/>
          <p:nvPr/>
        </p:nvSpPr>
        <p:spPr>
          <a:xfrm>
            <a:off x="1004724" y="6753757"/>
            <a:ext cx="45071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C8163FAB-D16A-BDBC-0F66-DF03AB6D8F8E}"/>
              </a:ext>
            </a:extLst>
          </p:cNvPr>
          <p:cNvSpPr txBox="1"/>
          <p:nvPr/>
        </p:nvSpPr>
        <p:spPr>
          <a:xfrm>
            <a:off x="1701681" y="6753757"/>
            <a:ext cx="3120902" cy="1423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 dirty="0"/>
              <a:t>Management needs insights to </a:t>
            </a:r>
            <a:r>
              <a:rPr lang="en-US" sz="2000" b="1" dirty="0"/>
              <a:t>identify customer groups</a:t>
            </a:r>
            <a:r>
              <a:rPr lang="en-US" sz="2000" dirty="0"/>
              <a:t> and </a:t>
            </a:r>
            <a:r>
              <a:rPr lang="en-US" sz="2000" b="1" dirty="0"/>
              <a:t>prioritize retention efforts</a:t>
            </a:r>
            <a:r>
              <a:rPr lang="en-US" sz="2000" dirty="0"/>
              <a:t>..</a:t>
            </a:r>
            <a:endParaRPr lang="en-US" sz="20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089" y="2666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-30178" y="9334500"/>
            <a:ext cx="18318178" cy="62942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837504" y="6498078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748333" y="6723030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876212" y="4467704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1159450" y="-140976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557564"/>
            <a:ext cx="7279037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Objectives and Goals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190994"/>
            <a:ext cx="8823356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Clarify the project's main overall objectives and goals.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51949" y="7620950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 #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54899" y="5086763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 # 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323" y="8245086"/>
            <a:ext cx="5016359" cy="74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939"/>
              </a:lnSpc>
              <a:spcBef>
                <a:spcPct val="0"/>
              </a:spcBef>
            </a:pPr>
            <a:r>
              <a:rPr lang="en-US" sz="2400" dirty="0"/>
              <a:t>Understand customer demographics and behaviors.</a:t>
            </a:r>
            <a:endParaRPr lang="en-US" sz="2099" u="none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928736" y="5753765"/>
            <a:ext cx="5016359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939"/>
              </a:lnSpc>
              <a:spcBef>
                <a:spcPct val="0"/>
              </a:spcBef>
            </a:pPr>
            <a:r>
              <a:rPr lang="en-US" sz="2400" dirty="0"/>
              <a:t>Analyze customer segments generated through clustering.</a:t>
            </a:r>
            <a:endParaRPr lang="en-US" sz="2099" u="none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808976" y="5375927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 # 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19380" y="8233798"/>
            <a:ext cx="5016359" cy="74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939"/>
              </a:lnSpc>
              <a:spcBef>
                <a:spcPct val="0"/>
              </a:spcBef>
            </a:pPr>
            <a:r>
              <a:rPr lang="en-US" sz="2400" dirty="0"/>
              <a:t>Identify high-value but at-risk customers.</a:t>
            </a:r>
            <a:endParaRPr lang="en-US" sz="2099" u="none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F4417AD2-607B-F136-7FAD-00117A259CEF}"/>
              </a:ext>
            </a:extLst>
          </p:cNvPr>
          <p:cNvSpPr/>
          <p:nvPr/>
        </p:nvSpPr>
        <p:spPr>
          <a:xfrm>
            <a:off x="6423694" y="4178540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4F522714-DE8A-5E5E-9779-2E114FCB8607}"/>
              </a:ext>
            </a:extLst>
          </p:cNvPr>
          <p:cNvSpPr txBox="1"/>
          <p:nvPr/>
        </p:nvSpPr>
        <p:spPr>
          <a:xfrm>
            <a:off x="9761120" y="7698855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 # 3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94012D24-CC1D-2BF6-0578-E87DCF417E67}"/>
              </a:ext>
            </a:extLst>
          </p:cNvPr>
          <p:cNvSpPr txBox="1"/>
          <p:nvPr/>
        </p:nvSpPr>
        <p:spPr>
          <a:xfrm>
            <a:off x="13312692" y="5937766"/>
            <a:ext cx="5016359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2939"/>
              </a:lnSpc>
              <a:spcBef>
                <a:spcPct val="0"/>
              </a:spcBef>
            </a:pPr>
            <a:r>
              <a:rPr lang="en-US" sz="2400" dirty="0"/>
              <a:t>Recommend data-driven retention and marketing strategies.</a:t>
            </a:r>
            <a:endParaRPr lang="en-US" sz="2099" u="none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2657" y="544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9" name="Freeform 9"/>
          <p:cNvSpPr/>
          <p:nvPr/>
        </p:nvSpPr>
        <p:spPr>
          <a:xfrm>
            <a:off x="13456423" y="1883102"/>
            <a:ext cx="3802877" cy="1486579"/>
          </a:xfrm>
          <a:custGeom>
            <a:avLst/>
            <a:gdLst/>
            <a:ahLst/>
            <a:cxnLst/>
            <a:rect l="l" t="t" r="r" b="b"/>
            <a:pathLst>
              <a:path w="3802877" h="1486579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49E9FA2-6F1B-9177-C1CA-F75F928D3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486" y="981075"/>
            <a:ext cx="8480314" cy="5915025"/>
          </a:xfrm>
          <a:prstGeom prst="rect">
            <a:avLst/>
          </a:prstGeom>
        </p:spPr>
      </p:pic>
      <p:sp>
        <p:nvSpPr>
          <p:cNvPr id="18" name="Rectangle 2">
            <a:extLst>
              <a:ext uri="{FF2B5EF4-FFF2-40B4-BE49-F238E27FC236}">
                <a16:creationId xmlns:a16="http://schemas.microsoft.com/office/drawing/2014/main" id="{443FAD00-CA69-9E17-0EF1-07295F524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6366" y="5459674"/>
            <a:ext cx="593168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Business Implications:</a:t>
            </a:r>
            <a:endParaRPr lang="en-US"/>
          </a:p>
          <a:p>
            <a:r>
              <a:rPr lang="en-US"/>
              <a:t>Main target audience: </a:t>
            </a:r>
            <a:r>
              <a:rPr lang="en-US" b="1"/>
              <a:t>adults and family-oriented customers</a:t>
            </a:r>
            <a:r>
              <a:rPr lang="en-US"/>
              <a:t>.</a:t>
            </a:r>
          </a:p>
          <a:p>
            <a:r>
              <a:rPr lang="en-US"/>
              <a:t>Marketing campaigns can be crafted without gender bias.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8A2ABA32-7EFF-10EE-E1E1-4B3737BF7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9486" y="7804548"/>
            <a:ext cx="6997428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Majority of customers fall within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21–40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41–60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 groups.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 below age 20 represent a very small portion.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 distribution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a neutral 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86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35A2C0F-67F2-964F-AF92-F71427E71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923" y="1923908"/>
            <a:ext cx="8578830" cy="5858821"/>
          </a:xfrm>
          <a:prstGeom prst="rect">
            <a:avLst/>
          </a:prstGeom>
        </p:spPr>
      </p:pic>
      <p:sp>
        <p:nvSpPr>
          <p:cNvPr id="18" name="Rectangle 1">
            <a:extLst>
              <a:ext uri="{FF2B5EF4-FFF2-40B4-BE49-F238E27FC236}">
                <a16:creationId xmlns:a16="http://schemas.microsoft.com/office/drawing/2014/main" id="{79FE591A-C16D-490C-D942-A53D87B82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368" y="3314435"/>
            <a:ext cx="7292381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 proportions are relatively balanced across the four clusters.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Risk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largest segment (~26–27%).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Champions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smallest (~20%), indicating room for expansion.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67E616-D7B8-F307-D9E4-8A1D57D94852}"/>
              </a:ext>
            </a:extLst>
          </p:cNvPr>
          <p:cNvSpPr txBox="1"/>
          <p:nvPr/>
        </p:nvSpPr>
        <p:spPr>
          <a:xfrm>
            <a:off x="1362368" y="5853896"/>
            <a:ext cx="91521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Business Implications: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Balanced distribution = stable segmentation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large portion of customers are at risk → requires intervention.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20E14-FB26-2690-ABD8-4792B4DE9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3C148D-6F4C-212A-36EB-7989E1128C73}"/>
              </a:ext>
            </a:extLst>
          </p:cNvPr>
          <p:cNvSpPr/>
          <p:nvPr/>
        </p:nvSpPr>
        <p:spPr>
          <a:xfrm>
            <a:off x="-16329" y="-1632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40DCD7-003F-7AD8-ED53-F951F263C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333500"/>
            <a:ext cx="8915399" cy="525780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255073F-9820-155C-A89E-6C2C11CF3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599" y="7452836"/>
            <a:ext cx="899797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Risk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group contributes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profit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despite showing declining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Loyal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customers provide stable revenue.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Potential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customers offer considerable opportunities for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Champions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have the lowest profit contribution.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916846-C66D-957C-2E4A-BB84973733ED}"/>
              </a:ext>
            </a:extLst>
          </p:cNvPr>
          <p:cNvSpPr txBox="1"/>
          <p:nvPr/>
        </p:nvSpPr>
        <p:spPr>
          <a:xfrm>
            <a:off x="10591800" y="3619500"/>
            <a:ext cx="91521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Business Implications: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Losing At Risk customers could cause </a:t>
            </a:r>
            <a:r>
              <a:rPr lang="en-US" b="1" dirty="0"/>
              <a:t>major revenue impact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Loyal &amp; Potential customers can be nurtured into Champions.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Champions require enhanced engagement to increase revenue contribution.</a:t>
            </a:r>
          </a:p>
        </p:txBody>
      </p:sp>
    </p:spTree>
    <p:extLst>
      <p:ext uri="{BB962C8B-B14F-4D97-AF65-F5344CB8AC3E}">
        <p14:creationId xmlns:p14="http://schemas.microsoft.com/office/powerpoint/2010/main" val="3302459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443" y="-48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028700" y="1162887"/>
            <a:ext cx="10880818" cy="769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5808"/>
              </a:lnSpc>
              <a:spcBef>
                <a:spcPct val="0"/>
              </a:spcBef>
            </a:pPr>
            <a:r>
              <a:rPr lang="en-ID" sz="6000" dirty="0"/>
              <a:t>Strategic Recommendations</a:t>
            </a:r>
            <a:endParaRPr lang="en-US" sz="5808" spc="-458" dirty="0">
              <a:solidFill>
                <a:srgbClr val="000000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90D4423C-120C-9DFD-C7C4-E662B311D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436861"/>
            <a:ext cx="502252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win-back offers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Limited-time discounts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 survey to capture dissatisfaction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Incentives to rebook (free upgrade / cashback)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C5A140-3E12-C2CA-0343-F325F1DE1CA0}"/>
              </a:ext>
            </a:extLst>
          </p:cNvPr>
          <p:cNvSpPr/>
          <p:nvPr/>
        </p:nvSpPr>
        <p:spPr>
          <a:xfrm>
            <a:off x="1055914" y="2574471"/>
            <a:ext cx="3962400" cy="884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/>
              <a:t>At Risk (Highest Priority):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5204DE-04FD-B864-705D-5487E21BB03F}"/>
              </a:ext>
            </a:extLst>
          </p:cNvPr>
          <p:cNvSpPr/>
          <p:nvPr/>
        </p:nvSpPr>
        <p:spPr>
          <a:xfrm>
            <a:off x="6705600" y="2574470"/>
            <a:ext cx="3962400" cy="884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/>
              <a:t>Loyal Customers:</a:t>
            </a:r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34971754-4917-5858-C978-CCD6A7DE2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4714" y="3221650"/>
            <a:ext cx="531748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 loyalty program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Exclusive benefits (early check-in, late check-out)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frequent engagement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259075D9-9F7C-91D0-A171-57416CF5C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6225468"/>
            <a:ext cx="410791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Targeted promotions &amp; bundled offers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 repeat bookings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loyalty benefits</a:t>
            </a:r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id="{5F356C02-1CFC-4AF0-F364-5CCECB418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9671" y="6090475"/>
            <a:ext cx="385554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VIP experience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referral rewards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them into brand advocates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8AF4F10-3B1E-20B4-A1C7-FDE890F44E95}"/>
              </a:ext>
            </a:extLst>
          </p:cNvPr>
          <p:cNvSpPr/>
          <p:nvPr/>
        </p:nvSpPr>
        <p:spPr>
          <a:xfrm>
            <a:off x="1055914" y="5570455"/>
            <a:ext cx="3962400" cy="884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/>
              <a:t>Potential Customers: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96AB1C6-1AB1-DC9D-C680-B8D7B5D031FB}"/>
              </a:ext>
            </a:extLst>
          </p:cNvPr>
          <p:cNvSpPr/>
          <p:nvPr/>
        </p:nvSpPr>
        <p:spPr>
          <a:xfrm>
            <a:off x="6732814" y="5469588"/>
            <a:ext cx="3962400" cy="884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/>
              <a:t>Champions: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2739036"/>
            <a:ext cx="7203393" cy="66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10/10</a:t>
            </a:r>
          </a:p>
        </p:txBody>
      </p:sp>
      <p:sp>
        <p:nvSpPr>
          <p:cNvPr id="6" name="AutoShape 6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028700" y="5738073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E-mail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78247" y="5712038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agussetia190897@gmail.com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180277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Phone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78247" y="6077798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085704 768010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4803775"/>
            <a:ext cx="47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CONTACT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443</Words>
  <Application>Microsoft Office PowerPoint</Application>
  <PresentationFormat>Custom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Garet Bold</vt:lpstr>
      <vt:lpstr>Garet</vt:lpstr>
      <vt:lpstr>Archivo Black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Black Minimalist Project Deck Presentation</dc:title>
  <dc:creator>AGUS SETIAWAN</dc:creator>
  <cp:lastModifiedBy>Agus Setiawan</cp:lastModifiedBy>
  <cp:revision>2</cp:revision>
  <dcterms:created xsi:type="dcterms:W3CDTF">2006-08-16T00:00:00Z</dcterms:created>
  <dcterms:modified xsi:type="dcterms:W3CDTF">2025-11-14T16:43:55Z</dcterms:modified>
  <dc:identifier>DAG4revQifg</dc:identifier>
</cp:coreProperties>
</file>